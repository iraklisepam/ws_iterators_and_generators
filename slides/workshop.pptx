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1675"/>
  <p:notesSz cx="6858000" cy="12191675"/>
  <p:embeddedFontLst>
    <p:embeddedFont>
      <p:font typeface="Play"/>
      <p:regular r:id="rId23"/>
      <p:bold r:id="rId24"/>
    </p:embeddedFont>
    <p:embeddedFont>
      <p:font typeface="Cascadia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jGQEZ/md6S/tzsGLJFXPoki/2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bold.fntdata"/><Relationship Id="rId23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ascadiaMono-bold.fntdata"/><Relationship Id="rId25" Type="http://schemas.openxmlformats.org/officeDocument/2006/relationships/font" Target="fonts/CascadiaMono-regular.fntdata"/><Relationship Id="rId28" Type="http://schemas.openxmlformats.org/officeDocument/2006/relationships/font" Target="fonts/CascadiaMono-boldItalic.fntdata"/><Relationship Id="rId27" Type="http://schemas.openxmlformats.org/officeDocument/2006/relationships/font" Target="fonts/Cascadia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85800" y="960120"/>
            <a:ext cx="56692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4300"/>
              <a:buFont typeface="Play"/>
              <a:buNone/>
            </a:pPr>
            <a:r>
              <a:rPr b="1" i="0" lang="en-US" sz="43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Python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4300"/>
              <a:buFont typeface="Play"/>
              <a:buNone/>
            </a:pPr>
            <a:r>
              <a:rPr b="1" i="0" lang="en-US" sz="43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Iterators and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4300"/>
              <a:buFont typeface="Play"/>
              <a:buNone/>
            </a:pPr>
            <a:r>
              <a:rPr b="1" i="0" lang="en-US" sz="43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Generators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675888"/>
            <a:ext cx="5715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Understand the protocol. Predict the behavior. Debug lazy pipelines.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4343400"/>
            <a:ext cx="2331720" cy="310896"/>
          </a:xfrm>
          <a:prstGeom prst="roundRect">
            <a:avLst>
              <a:gd fmla="val 14706" name="adj"/>
            </a:avLst>
          </a:prstGeom>
          <a:solidFill>
            <a:srgbClr val="7CFFB2">
              <a:alpha val="92156"/>
            </a:srgbClr>
          </a:solidFill>
          <a:ln cap="flat" cmpd="sng" w="12700">
            <a:solidFill>
              <a:srgbClr val="7CFFB2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41248" y="4416552"/>
            <a:ext cx="211226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2-hour interactive workshop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401568" y="4416552"/>
            <a:ext cx="138074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advanced juniors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360920" y="960120"/>
            <a:ext cx="3794760" cy="4526280"/>
          </a:xfrm>
          <a:prstGeom prst="roundRect">
            <a:avLst>
              <a:gd fmla="val 1928" name="adj"/>
            </a:avLst>
          </a:prstGeom>
          <a:solidFill>
            <a:srgbClr val="17213B"/>
          </a:solidFill>
          <a:ln cap="flat" cmpd="sng" w="1395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635240" y="1325880"/>
            <a:ext cx="3246120" cy="3566160"/>
          </a:xfrm>
          <a:prstGeom prst="roundRect">
            <a:avLst>
              <a:gd fmla="val 2254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635240" y="1325880"/>
            <a:ext cx="324612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799832" y="1426464"/>
            <a:ext cx="29169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lazy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799832" y="1819656"/>
            <a:ext cx="2916936" cy="295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rows = read_rows("sales.csv")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paid = (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row for row in rows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if row.status == "paid"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total = sum(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row.amount for row in paid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1/20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OPENING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The ten-million-row CSV challenge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5800" y="13258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A CSV feed arrives with millions of sales records.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85800" y="1874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Question for the room: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85800" y="2212848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How many rows must be stored in memory at once?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46520" y="1325880"/>
            <a:ext cx="4480560" cy="3108960"/>
          </a:xfrm>
          <a:prstGeom prst="roundRect">
            <a:avLst>
              <a:gd fmla="val 2353" name="adj"/>
            </a:avLst>
          </a:prstGeom>
          <a:solidFill>
            <a:srgbClr val="17213B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858000" y="2286000"/>
            <a:ext cx="731520" cy="457200"/>
          </a:xfrm>
          <a:prstGeom prst="roundRect">
            <a:avLst>
              <a:gd fmla="val 10000" name="adj"/>
            </a:avLst>
          </a:prstGeom>
          <a:solidFill>
            <a:srgbClr val="6EA8FE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858000" y="2441448"/>
            <a:ext cx="7315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read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7635240" y="2514600"/>
            <a:ext cx="118872" cy="0"/>
          </a:xfrm>
          <a:prstGeom prst="straightConnector1">
            <a:avLst/>
          </a:prstGeom>
          <a:noFill/>
          <a:ln cap="flat" cmpd="sng" w="25400">
            <a:solidFill>
              <a:srgbClr val="AAB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" name="Google Shape;45;p2"/>
          <p:cNvSpPr/>
          <p:nvPr/>
        </p:nvSpPr>
        <p:spPr>
          <a:xfrm>
            <a:off x="7818120" y="2286000"/>
            <a:ext cx="731520" cy="457200"/>
          </a:xfrm>
          <a:prstGeom prst="roundRect">
            <a:avLst>
              <a:gd fmla="val 10000" name="adj"/>
            </a:avLst>
          </a:prstGeom>
          <a:solidFill>
            <a:srgbClr val="C3A6FF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818120" y="2441448"/>
            <a:ext cx="7315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8595360" y="2514600"/>
            <a:ext cx="118872" cy="0"/>
          </a:xfrm>
          <a:prstGeom prst="straightConnector1">
            <a:avLst/>
          </a:prstGeom>
          <a:noFill/>
          <a:ln cap="flat" cmpd="sng" w="25400">
            <a:solidFill>
              <a:srgbClr val="AAB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" name="Google Shape;48;p2"/>
          <p:cNvSpPr/>
          <p:nvPr/>
        </p:nvSpPr>
        <p:spPr>
          <a:xfrm>
            <a:off x="8778240" y="2286000"/>
            <a:ext cx="731520" cy="457200"/>
          </a:xfrm>
          <a:prstGeom prst="roundRect">
            <a:avLst>
              <a:gd fmla="val 10000" name="adj"/>
            </a:avLst>
          </a:prstGeom>
          <a:solidFill>
            <a:srgbClr val="FFD16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778240" y="2441448"/>
            <a:ext cx="7315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9555480" y="2514600"/>
            <a:ext cx="118872" cy="0"/>
          </a:xfrm>
          <a:prstGeom prst="straightConnector1">
            <a:avLst/>
          </a:prstGeom>
          <a:noFill/>
          <a:ln cap="flat" cmpd="sng" w="25400">
            <a:solidFill>
              <a:srgbClr val="AAB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" name="Google Shape;51;p2"/>
          <p:cNvSpPr/>
          <p:nvPr/>
        </p:nvSpPr>
        <p:spPr>
          <a:xfrm>
            <a:off x="9738360" y="2286000"/>
            <a:ext cx="731520" cy="457200"/>
          </a:xfrm>
          <a:prstGeom prst="roundRect">
            <a:avLst>
              <a:gd fmla="val 10000" name="adj"/>
            </a:avLst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9738360" y="2441448"/>
            <a:ext cx="7315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85800" y="50749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Workshop promise: build the mental model behind one-row-at-a-time processing.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2/20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PROBLEM SETUP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Eager vs lazy: same result, different behavior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85800" y="1234440"/>
            <a:ext cx="5257800" cy="2834640"/>
          </a:xfrm>
          <a:prstGeom prst="roundRect">
            <a:avLst>
              <a:gd fmla="val 2581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85800" y="1234440"/>
            <a:ext cx="525780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50392" y="1335024"/>
            <a:ext cx="49286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eager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50392" y="1728216"/>
            <a:ext cx="4928616" cy="2221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rows = read_all_rows("sales.csv")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paid_rows = [r for r in rows if r.status == "paid"]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large_orders = [r for r in paid_rows if r.amount &gt;= 500]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total = sum(r.amount for r in large_orders)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63640" y="1234440"/>
            <a:ext cx="5257800" cy="2834640"/>
          </a:xfrm>
          <a:prstGeom prst="roundRect">
            <a:avLst>
              <a:gd fmla="val 2581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263640" y="1234440"/>
            <a:ext cx="525780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428232" y="1335024"/>
            <a:ext cx="49286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lazy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28232" y="1728216"/>
            <a:ext cx="4928616" cy="2221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rows = read_rows("sales.csv")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paid_rows = (r for r in rows if r.status == "paid")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large_orders = (r for r in paid_rows if r.amount &gt;= 500)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total = sum(r.amount for r in large_orders)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68680" y="4572000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645920" y="464515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Result may be the same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26280" y="4572000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303520" y="464515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Evaluation strategy differs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092440" y="4572000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869680" y="464515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6F7FB"/>
                </a:solidFill>
                <a:latin typeface="Calibri"/>
                <a:ea typeface="Calibri"/>
                <a:cs typeface="Calibri"/>
                <a:sym typeface="Calibri"/>
              </a:rPr>
              <a:t>Consumption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3/20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INTERACTIVE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Prediction #1: what happens next?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77240" y="1234440"/>
            <a:ext cx="5257800" cy="3749040"/>
          </a:xfrm>
          <a:prstGeom prst="roundRect">
            <a:avLst>
              <a:gd fmla="val 1951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77240" y="1234440"/>
            <a:ext cx="525780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941832" y="1335024"/>
            <a:ext cx="49286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predict before running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941832" y="1728216"/>
            <a:ext cx="4928616" cy="3136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values = [10, 20, 30]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iterator = iter(values)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print(next(iterator))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print(next(iterator))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print(next(iterator))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print(next(iterator))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629400" y="14173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Poll / chat: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629400" y="1810512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What does the fourth call return?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812280" y="274320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A. 30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B. None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C. StopIteration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D. Empty list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5/20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MENTAL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Iterable vs iterator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68680" y="1965960"/>
            <a:ext cx="2057400" cy="1005840"/>
          </a:xfrm>
          <a:prstGeom prst="roundRect">
            <a:avLst>
              <a:gd fmla="val 5455" name="adj"/>
            </a:avLst>
          </a:prstGeom>
          <a:solidFill>
            <a:srgbClr val="1E2B4A"/>
          </a:solidFill>
          <a:ln cap="flat" cmpd="sng" w="19050">
            <a:solidFill>
              <a:srgbClr val="6EA8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097280" y="22219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A8F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EA8FE"/>
                </a:solidFill>
                <a:latin typeface="Arial"/>
                <a:ea typeface="Arial"/>
                <a:cs typeface="Arial"/>
                <a:sym typeface="Arial"/>
              </a:rPr>
              <a:t>Iterable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>
            <a:off x="3063240" y="2468880"/>
            <a:ext cx="1508760" cy="0"/>
          </a:xfrm>
          <a:prstGeom prst="straightConnector1">
            <a:avLst/>
          </a:prstGeom>
          <a:noFill/>
          <a:ln cap="flat" cmpd="sng" w="25400">
            <a:solidFill>
              <a:srgbClr val="7CFF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" name="Google Shape;108;p6"/>
          <p:cNvSpPr/>
          <p:nvPr/>
        </p:nvSpPr>
        <p:spPr>
          <a:xfrm>
            <a:off x="3429000" y="208483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iter(...)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709160" y="1965960"/>
            <a:ext cx="2057400" cy="1005840"/>
          </a:xfrm>
          <a:prstGeom prst="roundRect">
            <a:avLst>
              <a:gd fmla="val 5455" name="adj"/>
            </a:avLst>
          </a:prstGeom>
          <a:solidFill>
            <a:srgbClr val="1E2B4A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919472" y="222199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Iterator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6"/>
          <p:cNvCxnSpPr/>
          <p:nvPr/>
        </p:nvCxnSpPr>
        <p:spPr>
          <a:xfrm>
            <a:off x="6903720" y="2468880"/>
            <a:ext cx="1508760" cy="0"/>
          </a:xfrm>
          <a:prstGeom prst="straightConnector1">
            <a:avLst/>
          </a:prstGeom>
          <a:noFill/>
          <a:ln cap="flat" cmpd="sng" w="25400">
            <a:solidFill>
              <a:srgbClr val="7CFF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6"/>
          <p:cNvSpPr/>
          <p:nvPr/>
        </p:nvSpPr>
        <p:spPr>
          <a:xfrm>
            <a:off x="7223760" y="2084832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next(...)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549640" y="1965960"/>
            <a:ext cx="2148840" cy="1005840"/>
          </a:xfrm>
          <a:prstGeom prst="roundRect">
            <a:avLst>
              <a:gd fmla="val 5455" name="adj"/>
            </a:avLst>
          </a:prstGeom>
          <a:solidFill>
            <a:srgbClr val="1E2B4A"/>
          </a:solidFill>
          <a:ln cap="flat" cmpd="sng" w="19050">
            <a:solidFill>
              <a:srgbClr val="7CF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915400" y="2221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051560" y="416052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An iterable can produce an iterator. An iterator produces values one at a time.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6/20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UNDER THE HOOD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What a for loop does for you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777240" y="1417320"/>
            <a:ext cx="4389120" cy="1508760"/>
          </a:xfrm>
          <a:prstGeom prst="roundRect">
            <a:avLst>
              <a:gd fmla="val 4848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777240" y="1417320"/>
            <a:ext cx="438912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941832" y="1517904"/>
            <a:ext cx="40599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what we write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941832" y="1911096"/>
            <a:ext cx="4059936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for value in [10, 20, 30]: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print(value)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669280" y="1143000"/>
            <a:ext cx="5349240" cy="4206240"/>
          </a:xfrm>
          <a:prstGeom prst="roundRect">
            <a:avLst>
              <a:gd fmla="val 1739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669280" y="1143000"/>
            <a:ext cx="534924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833872" y="1243584"/>
            <a:ext cx="502005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roughly what happens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833872" y="1636776"/>
            <a:ext cx="5020056" cy="3593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iterator = iter([10, 20, 30])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while True: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try: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value = next(iterator)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except StopIteration: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break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print(value)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68680" y="3886200"/>
            <a:ext cx="4069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The loop hides StopIteration and repeatedly asks for the next value.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7/20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INTERACTIVE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Prediction #2: reusable or exhausted?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77240" y="1234440"/>
            <a:ext cx="5029200" cy="2148840"/>
          </a:xfrm>
          <a:prstGeom prst="roundRect">
            <a:avLst>
              <a:gd fmla="val 3404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777240" y="1234440"/>
            <a:ext cx="502920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941832" y="1335024"/>
            <a:ext cx="47000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941832" y="1728216"/>
            <a:ext cx="4700016" cy="153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values = [1, 2, 3]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print(list(values))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print(list(values))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309360" y="1234440"/>
            <a:ext cx="5029200" cy="2148840"/>
          </a:xfrm>
          <a:prstGeom prst="roundRect">
            <a:avLst>
              <a:gd fmla="val 3404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309360" y="1234440"/>
            <a:ext cx="502920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473952" y="1335024"/>
            <a:ext cx="47000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iterator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473952" y="1728216"/>
            <a:ext cx="4700016" cy="153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iterator = iter([1, 2, 3])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print(list(iterator))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print(list(iterator))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005850" y="4956050"/>
            <a:ext cx="100584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6F7FB"/>
                </a:solidFill>
              </a:rPr>
              <a:t>S</a:t>
            </a:r>
            <a:r>
              <a:rPr b="1" i="0" lang="en-US" sz="26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tateful and consumable.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8/20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PROTOCOL IN 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Build a custom iterator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777240" y="1143000"/>
            <a:ext cx="5669280" cy="4572000"/>
          </a:xfrm>
          <a:prstGeom prst="roundRect">
            <a:avLst>
              <a:gd fmla="val 1600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777240" y="1143000"/>
            <a:ext cx="566928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941832" y="1243584"/>
            <a:ext cx="534009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two objects, two responsibilities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941832" y="1636776"/>
            <a:ext cx="5340096" cy="39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class Countdown: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def __init__(self, start: int) -&gt; None: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self.start = start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def __iter__(self):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return CountdownIterator(self.start)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class CountdownIterator: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def __iter__(self):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return self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def __next__(self):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...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949440" y="14173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Where is state stored?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949440" y="201168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CountdownIterator keeps the changing current position.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949440" y="30632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Why repeated iteration works?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949440" y="4024156"/>
            <a:ext cx="4023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Countdown creates a fresh iterator each time.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9/20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TRAP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Reusable vs one-shot iteration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777240" y="1280160"/>
            <a:ext cx="5074920" cy="2880360"/>
          </a:xfrm>
          <a:prstGeom prst="roundRect">
            <a:avLst>
              <a:gd fmla="val 2540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777240" y="1280160"/>
            <a:ext cx="507492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941832" y="1380744"/>
            <a:ext cx="47457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fresh iterator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941832" y="1773936"/>
            <a:ext cx="4745736" cy="2267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countdown = Countdown(3)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print(list(countdown))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print(list(countdown))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# [3, 2, 1]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# [3, 2, 1]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309360" y="1280160"/>
            <a:ext cx="5074920" cy="2880360"/>
          </a:xfrm>
          <a:prstGeom prst="roundRect">
            <a:avLst>
              <a:gd fmla="val 2540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6309360" y="1280160"/>
            <a:ext cx="507492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6473952" y="1380744"/>
            <a:ext cx="47457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self is the iterator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473952" y="1773936"/>
            <a:ext cx="4745736" cy="2267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countdown = OneShotCountdown(3)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print(list(countdown))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print(list(countdown))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# [3, 2, 1]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# []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960125" y="4892058"/>
            <a:ext cx="101499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Valid does not always mean appropriate. Match iterator behavior to user expectations.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10/20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REFACTOR MOMENT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Generators remove the boilerplate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777240" y="1234440"/>
            <a:ext cx="5486400" cy="4114800"/>
          </a:xfrm>
          <a:prstGeom prst="roundRect">
            <a:avLst>
              <a:gd fmla="val 1778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777240" y="1234440"/>
            <a:ext cx="548640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941832" y="1335024"/>
            <a:ext cx="51572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same behavior, less machinery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941832" y="1728216"/>
            <a:ext cx="5157216" cy="3502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class Countdown: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def __init__(self, start: int) -&gt; None: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self.start = start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def __iter__(self):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current = self.start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while current &gt; 0: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    yield current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    current -= 1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720840" y="1600200"/>
            <a:ext cx="4069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A function containing yield creates a generator object.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720840" y="2697480"/>
            <a:ext cx="4069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That object implements the iterator protocol and preserves suspended state.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720850" y="3886200"/>
            <a:ext cx="5309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Question: where did __next__ go?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11/20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GENERATOR BEHAVIOR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Suspended execution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777240" y="1143000"/>
            <a:ext cx="5257800" cy="4343400"/>
          </a:xfrm>
          <a:prstGeom prst="roundRect">
            <a:avLst>
              <a:gd fmla="val 1684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777240" y="1143000"/>
            <a:ext cx="525780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941832" y="1243584"/>
            <a:ext cx="49286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run one call at a 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41832" y="1636776"/>
            <a:ext cx="4928616" cy="3730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def trace():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print("started")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yield 10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print("resumed")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yield 20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generator = trace()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print(next(generator))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print(next(generator))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629400" y="1417320"/>
            <a:ext cx="3840480" cy="731520"/>
          </a:xfrm>
          <a:prstGeom prst="roundRect">
            <a:avLst>
              <a:gd fmla="val 7500" name="adj"/>
            </a:avLst>
          </a:prstGeom>
          <a:solidFill>
            <a:srgbClr val="1E2B4A"/>
          </a:solidFill>
          <a:ln cap="flat" cmpd="sng" w="12700">
            <a:solidFill>
              <a:srgbClr val="7CF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6858000" y="1655064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created ≠ executed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2"/>
          <p:cNvCxnSpPr/>
          <p:nvPr/>
        </p:nvCxnSpPr>
        <p:spPr>
          <a:xfrm>
            <a:off x="8549640" y="2377440"/>
            <a:ext cx="0" cy="594360"/>
          </a:xfrm>
          <a:prstGeom prst="straightConnector1">
            <a:avLst/>
          </a:prstGeom>
          <a:noFill/>
          <a:ln cap="flat" cmpd="sng" w="25400">
            <a:solidFill>
              <a:srgbClr val="7CFF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p12"/>
          <p:cNvSpPr/>
          <p:nvPr/>
        </p:nvSpPr>
        <p:spPr>
          <a:xfrm>
            <a:off x="6629400" y="3127248"/>
            <a:ext cx="3840480" cy="731520"/>
          </a:xfrm>
          <a:prstGeom prst="roundRect">
            <a:avLst>
              <a:gd fmla="val 7500" name="adj"/>
            </a:avLst>
          </a:prstGeom>
          <a:solidFill>
            <a:srgbClr val="1E2B4A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7086600" y="336499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yield pauses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2"/>
          <p:cNvCxnSpPr/>
          <p:nvPr/>
        </p:nvCxnSpPr>
        <p:spPr>
          <a:xfrm>
            <a:off x="8549640" y="4096512"/>
            <a:ext cx="0" cy="585216"/>
          </a:xfrm>
          <a:prstGeom prst="straightConnector1">
            <a:avLst/>
          </a:prstGeom>
          <a:noFill/>
          <a:ln cap="flat" cmpd="sng" w="25400">
            <a:solidFill>
              <a:srgbClr val="7CFFB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p12"/>
          <p:cNvSpPr/>
          <p:nvPr/>
        </p:nvSpPr>
        <p:spPr>
          <a:xfrm>
            <a:off x="6629400" y="4846320"/>
            <a:ext cx="3840480" cy="731520"/>
          </a:xfrm>
          <a:prstGeom prst="roundRect">
            <a:avLst>
              <a:gd fmla="val 7500" name="adj"/>
            </a:avLst>
          </a:prstGeom>
          <a:solidFill>
            <a:srgbClr val="1E2B4A"/>
          </a:solidFill>
          <a:ln cap="flat" cmpd="sng" w="12700">
            <a:solidFill>
              <a:srgbClr val="C3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7086600" y="508406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3A6FF"/>
                </a:solidFill>
                <a:latin typeface="Arial"/>
                <a:ea typeface="Arial"/>
                <a:cs typeface="Arial"/>
                <a:sym typeface="Arial"/>
              </a:rPr>
              <a:t>next resumes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12/20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PIPELINES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Generator expressions: lazy filters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777240" y="1280160"/>
            <a:ext cx="5074920" cy="1188720"/>
          </a:xfrm>
          <a:prstGeom prst="roundRect">
            <a:avLst>
              <a:gd fmla="val 6154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777240" y="1280160"/>
            <a:ext cx="507492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941832" y="1380744"/>
            <a:ext cx="47457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eager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941832" y="1773936"/>
            <a:ext cx="474573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squares = [n * n for n in range(10)]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# list comprehension: builds now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777240" y="2788920"/>
            <a:ext cx="5074920" cy="1188720"/>
          </a:xfrm>
          <a:prstGeom prst="roundRect">
            <a:avLst>
              <a:gd fmla="val 6154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777240" y="2788920"/>
            <a:ext cx="507492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941832" y="2889504"/>
            <a:ext cx="47457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lazy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941832" y="3282696"/>
            <a:ext cx="4745736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squares = (n * n for n in range(10))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# generator expression: produces later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6400800" y="1554480"/>
            <a:ext cx="4572000" cy="2514600"/>
          </a:xfrm>
          <a:prstGeom prst="roundRect">
            <a:avLst>
              <a:gd fmla="val 2909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6400800" y="1554480"/>
            <a:ext cx="457200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6565392" y="1655064"/>
            <a:ext cx="42428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ETL-style filter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6565392" y="2048256"/>
            <a:ext cx="4242816" cy="1901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paid_orders = (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order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for order in orders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if order.status == "paid"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960120" y="5074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Lazy pipelines are powerful because work happens only when something consumes the pipeline.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13/20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DELEGATION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yield from delegates iteration cleanly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777240" y="1234440"/>
            <a:ext cx="4983480" cy="2514600"/>
          </a:xfrm>
          <a:prstGeom prst="roundRect">
            <a:avLst>
              <a:gd fmla="val 2909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777240" y="1234440"/>
            <a:ext cx="498348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941832" y="1335024"/>
            <a:ext cx="465429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manual nested loop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941832" y="1728216"/>
            <a:ext cx="4654296" cy="1901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def combine(groups):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for group in groups: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for item in group: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    yield item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6309360" y="1234440"/>
            <a:ext cx="4983480" cy="2514600"/>
          </a:xfrm>
          <a:prstGeom prst="roundRect">
            <a:avLst>
              <a:gd fmla="val 2909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6309360" y="1234440"/>
            <a:ext cx="498348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6473952" y="1335024"/>
            <a:ext cx="465429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clear intent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473952" y="1728216"/>
            <a:ext cx="4654296" cy="1901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def combine(groups):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for group in groups: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        yield from group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1828800" y="4343400"/>
            <a:ext cx="8458200" cy="1143000"/>
          </a:xfrm>
          <a:prstGeom prst="roundRect">
            <a:avLst>
              <a:gd fmla="val 6400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1828800" y="4343400"/>
            <a:ext cx="845820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1993392" y="4443984"/>
            <a:ext cx="812901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1993392" y="4837176"/>
            <a:ext cx="81290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groups = [["a", "b"], ["c"], ["d", "e"]]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print(list(combine(groups)))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# ['a', 'b', 'c', 'd', 'e']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14/20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PRACTICE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Hands-on lab: rescue a broken sales ETL pipeline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777240" y="1234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Scenario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777250" y="1645929"/>
            <a:ext cx="4480500" cy="1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A CSV-like sales feed must be parsed, filtered, flattened, and reported without accidentally consuming the same pipeline twice.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6675120" y="1234440"/>
            <a:ext cx="4251960" cy="1691640"/>
          </a:xfrm>
          <a:prstGeom prst="roundRect">
            <a:avLst>
              <a:gd fmla="val 4324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6675120" y="1234440"/>
            <a:ext cx="425196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6839712" y="1335024"/>
            <a:ext cx="392277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input batches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6839712" y="1728216"/>
            <a:ext cx="3922776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laptop,1500,paid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mouse,30,paid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monitor,1200,failed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chair,700,paid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777250" y="4069070"/>
            <a:ext cx="98754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AAB4D4"/>
                </a:solidFill>
                <a:latin typeface="Arial"/>
                <a:ea typeface="Arial"/>
                <a:cs typeface="Arial"/>
                <a:sym typeface="Arial"/>
              </a:rPr>
              <a:t>You will implement the protocol first, then use generators to simplify the ETL (Extract, Transform, Load) flow.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15/20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35 MINUTES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Hands-on tasks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868680" y="1234440"/>
            <a:ext cx="310896" cy="310896"/>
          </a:xfrm>
          <a:prstGeom prst="ellipse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868680" y="1330452"/>
            <a:ext cx="310896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1325880" y="1216152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Implement CsvLinesIterator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868680" y="1892808"/>
            <a:ext cx="310896" cy="310896"/>
          </a:xfrm>
          <a:prstGeom prst="ellipse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868680" y="1988820"/>
            <a:ext cx="310896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1325880" y="187452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Make CsvLines reusable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868680" y="2551176"/>
            <a:ext cx="310896" cy="310896"/>
          </a:xfrm>
          <a:prstGeom prst="ellipse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868680" y="2647188"/>
            <a:ext cx="310896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1325880" y="253288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Flatten batches with yield from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868680" y="3209544"/>
            <a:ext cx="310896" cy="310896"/>
          </a:xfrm>
          <a:prstGeom prst="ellipse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868680" y="3305556"/>
            <a:ext cx="310896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1325880" y="3191256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Implement generator-based transformations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868680" y="3867912"/>
            <a:ext cx="310896" cy="310896"/>
          </a:xfrm>
          <a:prstGeom prst="ellipse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868680" y="3963924"/>
            <a:ext cx="310896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1325880" y="3849624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Run tests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868680" y="4526280"/>
            <a:ext cx="310896" cy="310896"/>
          </a:xfrm>
          <a:prstGeom prst="ellipse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868680" y="4622292"/>
            <a:ext cx="310896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B102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1325880" y="4507992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Fix the reporting bug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6812280" y="1874520"/>
            <a:ext cx="4069080" cy="1737360"/>
          </a:xfrm>
          <a:prstGeom prst="roundRect">
            <a:avLst>
              <a:gd fmla="val 4211" name="adj"/>
            </a:avLst>
          </a:prstGeom>
          <a:solidFill>
            <a:srgbClr val="0E1426"/>
          </a:solidFill>
          <a:ln cap="flat" cmpd="sng" w="127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6812280" y="1874520"/>
            <a:ext cx="4069080" cy="329184"/>
          </a:xfrm>
          <a:prstGeom prst="rect">
            <a:avLst/>
          </a:prstGeom>
          <a:solidFill>
            <a:srgbClr val="141C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6976872" y="1975104"/>
            <a:ext cx="373989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bug reveal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6976872" y="2368296"/>
            <a:ext cx="3739896" cy="1124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count = len(list(selected))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total = sum(sale.amount for sale in selected)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Calibri"/>
              <a:buNone/>
            </a:pPr>
            <a:r>
              <a:t/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080"/>
              <a:buFont typeface="Cascadia Mono"/>
              <a:buNone/>
            </a:pPr>
            <a:r>
              <a:rPr b="0" i="0" lang="en-US" sz="1080" u="none" cap="none" strike="noStrike">
                <a:solidFill>
                  <a:srgbClr val="F6F7FB"/>
                </a:solidFill>
                <a:latin typeface="Cascadia Mono"/>
                <a:ea typeface="Cascadia Mono"/>
                <a:cs typeface="Cascadia Mono"/>
                <a:sym typeface="Cascadia Mono"/>
              </a:rPr>
              <a:t># Why is total wrong?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16/20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/>
          <p:nvPr/>
        </p:nvSpPr>
        <p:spPr>
          <a:xfrm>
            <a:off x="-60812" y="0"/>
            <a:ext cx="12191700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REMOTE FACILITATION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Exercise milestones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914400" y="141732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17"/>
          <p:cNvCxnSpPr/>
          <p:nvPr/>
        </p:nvCxnSpPr>
        <p:spPr>
          <a:xfrm>
            <a:off x="2240280" y="1581912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7"/>
          <p:cNvSpPr/>
          <p:nvPr/>
        </p:nvSpPr>
        <p:spPr>
          <a:xfrm>
            <a:off x="3063240" y="1435608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CsvLinesIterator test passes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914400" y="237744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7"/>
          <p:cNvCxnSpPr/>
          <p:nvPr/>
        </p:nvCxnSpPr>
        <p:spPr>
          <a:xfrm>
            <a:off x="2240280" y="2542032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7"/>
          <p:cNvSpPr/>
          <p:nvPr/>
        </p:nvSpPr>
        <p:spPr>
          <a:xfrm>
            <a:off x="3063240" y="2395728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Generator transformations pass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914400" y="333756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28 min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7"/>
          <p:cNvCxnSpPr/>
          <p:nvPr/>
        </p:nvCxnSpPr>
        <p:spPr>
          <a:xfrm>
            <a:off x="2240280" y="3502152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17"/>
          <p:cNvSpPr/>
          <p:nvPr/>
        </p:nvSpPr>
        <p:spPr>
          <a:xfrm>
            <a:off x="3063240" y="3355848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Investigate reporting bug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914400" y="4297680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33 min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7"/>
          <p:cNvCxnSpPr/>
          <p:nvPr/>
        </p:nvCxnSpPr>
        <p:spPr>
          <a:xfrm>
            <a:off x="2240280" y="4462272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3444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17"/>
          <p:cNvSpPr/>
          <p:nvPr/>
        </p:nvSpPr>
        <p:spPr>
          <a:xfrm>
            <a:off x="3063240" y="4315968"/>
            <a:ext cx="7132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Run all tests and prepare explanation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17/20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Solution discussion questions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822960" y="123444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1325880" y="123444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Why does CsvLinesIterator.__iter__() return self?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822960" y="240487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1325880" y="2404872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Why does CsvLines.__iter__() create a new object?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822960" y="3575304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1325880" y="3575304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What does yield save us from writing manually?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6217920" y="123444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6720840" y="123444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Why did the reporting code compute the wrong total?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6217920" y="240487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720840" y="2404872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When is converting a generator to a list reasonable?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6217920" y="3575304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6720840" y="3575304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What does yield from communicate?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18/20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20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FFB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502920" y="34747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FFB2"/>
                </a:solidFill>
                <a:latin typeface="Arial"/>
                <a:ea typeface="Arial"/>
                <a:cs typeface="Arial"/>
                <a:sym typeface="Arial"/>
              </a:rPr>
              <a:t>WRAP-UP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502920" y="6583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6F7FB"/>
                </a:solidFill>
                <a:latin typeface="Play"/>
                <a:ea typeface="Play"/>
                <a:cs typeface="Play"/>
                <a:sym typeface="Play"/>
              </a:rPr>
              <a:t>Final takeaways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822960" y="12344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Iterable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3520440" y="1234440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can produce an iterator.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822960" y="19476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Iterator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3520440" y="1947672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produces values one at a time and may be exhausted.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822960" y="2660904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iter(iterator)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3520440" y="2660904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returns the iterator itself.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822960" y="337413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Generators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3520440" y="3374136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usually simplify lazy iteration.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822960" y="408736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Lazy pipelines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3520440" y="4087368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avoid unnecessary intermediate lists.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822960" y="48006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FFB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7CFFB2"/>
                </a:solidFill>
                <a:latin typeface="Calibri"/>
                <a:ea typeface="Calibri"/>
                <a:cs typeface="Calibri"/>
                <a:sym typeface="Calibri"/>
              </a:rPr>
              <a:t>yield from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3520440" y="4800600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7F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6F7FB"/>
                </a:solidFill>
                <a:latin typeface="Arial"/>
                <a:ea typeface="Arial"/>
                <a:cs typeface="Arial"/>
                <a:sym typeface="Arial"/>
              </a:rPr>
              <a:t>delegates iteration cleanly.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822960" y="60167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Iterators define the protocol. Generators make the protocol practical.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11155680" y="64465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D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AB4D4"/>
                </a:solidFill>
                <a:latin typeface="Calibri"/>
                <a:ea typeface="Calibri"/>
                <a:cs typeface="Calibri"/>
                <a:sym typeface="Calibri"/>
              </a:rPr>
              <a:t>20/20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2026-06-09T10:31:49Z</dcterms:created>
  <dc:creator>OpenAI</dc:creator>
</cp:coreProperties>
</file>